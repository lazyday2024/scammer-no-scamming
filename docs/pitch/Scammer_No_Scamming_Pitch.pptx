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BA2A09-1AC3-4F1F-9489-72B953D57FA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4A6982-27CD-4C7F-A4C6-7FED6BB40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247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แก๊งสแกมดูดทั้งน้ำมัน ไฟ และเงินของผู้คน จนเมืองนี้ตาย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A6982-27CD-4C7F-A4C6-7FED6BB40D8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5857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นี่ไม่ใช่ตัวเลขในเกม นี่คือความเสียหายจริงของคนไทย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A6982-27CD-4C7F-A4C6-7FED6BB40D8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218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ถ้าคุณเคยซื้อของออนไลน์ หรือกดลิงก์จากแชต เกมนี้ทำมาเพื่อคุณ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A6982-27CD-4C7F-A4C6-7FED6BB40D8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6598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อ่านเบาะแส ปักหมุดรังให้ถูกโซน ถูกทิศ แล้วออกล่า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A6982-27CD-4C7F-A4C6-7FED6BB40D8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886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ทุกคดีเริ่มจากเรื่องของคนที่โดนหลอก และจบที่หลักฐานถูก </a:t>
            </a:r>
            <a:r>
              <a:rPr lang="en-US"/>
              <a:t>Seal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A6982-27CD-4C7F-A4C6-7FED6BB40D8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9501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กล่องไหนจริง กล่องไหนปลอม? คนที่จ้องคุณอยู่ ไว้ใจได้ไหม?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A6982-27CD-4C7F-A4C6-7FED6BB40D8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403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เราไม่ได้สอนวิธีในเกม แต่ฝึกให้คิดก่อน เพื่อภูมิต้านทานในชีวิตจริง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A6982-27CD-4C7F-A4C6-7FED6BB40D8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1094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เขียนเทสต์ไว้แล้ว 32 ตัว เจอกันบน </a:t>
            </a:r>
            <a:r>
              <a:rPr lang="en-US"/>
              <a:t>itch.io </a:t>
            </a:r>
            <a:r>
              <a:rPr lang="th-TH"/>
              <a:t>วันที่ 25 ต.ค.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A6982-27CD-4C7F-A4C6-7FED6BB40D8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4810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4575F-630E-F475-93DC-79DBCB7F9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0E746A-2E73-1963-A526-E5ACAF2EB8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BF6C1-A5BE-6B46-996B-06024BE71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88458-D7F0-881C-4568-5018CE78B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77807-BF3D-151E-90A7-A85462835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515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DDD2-0AF6-2F3F-8C6F-ABAF3BD9A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A5BCC-32AE-20EB-F040-0F02BE5DA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B2FABB-3CC8-12EC-1C89-8E4B560EC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75B9CA-3C0B-2684-DD83-94BA60B71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3ED6F-752F-D274-57EC-0D3B7ABDB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659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70BFD-9E6C-CF7A-F345-0192B5D2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84398E-139D-BA34-9458-0C07494B4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3546B-0589-DF16-259B-B57AF33BF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4F2BD-AC6F-242C-B0A2-F0577EDC8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49C93-981D-B478-500B-AE15B8DC8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464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24570-6E12-0E32-2706-C47FC529A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D2FC1-0169-A8C0-FC4A-5B1AEFE185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29F65D-91A3-0350-5ABB-FB38AA70B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A3DF20-48AB-B33F-3958-438A1B75B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784384-6158-C45C-A79E-17BC5BB92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49E70D-54AA-7B01-E2A7-71A7A9A2F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99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4FFF0-02D4-11A4-655D-F5258E3E8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07CB4D-B9FB-91E0-3AA9-9893C6B9F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70FA98-C299-4F49-A024-F09F1EF91A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1651BA-92E1-8743-D660-4A90F7419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558F43-D8F7-766D-92CB-179C8DE66D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6EC3AD-49D3-1760-D213-0F8FDC9E8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4CA788-8644-D3C8-36F9-2861B487F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6DC5C7-87AD-9DAE-F86A-733EE81DF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628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DD29C-7919-17CB-2465-ABD40D529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EC57A7-3F3B-73EA-53F5-C7BF167A5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1E54E-63FB-5132-CAA9-B04C2EAA8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3A1A75-6FBC-634C-73F5-7B884F68B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0A68F1-4DEB-ADFA-0344-378D6C8FA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F8E98A-DC58-288C-303D-606649093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0B072-7FCA-AF5B-D17B-CF6FD153F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482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02C68-E63F-C3C8-DC99-D254D3D67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1071E-A1DB-8A27-0BEE-6B6D58058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DEBA3F-7FD6-C4A9-2F65-E4854B94F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3AD456-C969-E633-C1BB-2930900DB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2BD2BD-24FC-3FC6-D367-B5D5E7CE8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79367-2E6C-C095-F846-15BFDBE66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565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ED850-4E62-2FD7-BAC5-2704AFC9C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6FD286-2B49-6F26-C829-512732120CB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971977-DE27-1C0A-BF76-B1C643065F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2DF9B-83A8-6F2E-2EDA-130CC3B57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1FA91-70EB-A4D9-0ADC-1622218C1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46D0FD-7473-1AD8-B25D-5BD4B1AFF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051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11442-EBE4-71FA-2A63-D45399D35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6E24E4-83AA-2904-4C65-E6EB5CB38E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7131DB-D2F1-F190-7782-D4D2B89A5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428D5-EC80-314D-AAF6-B65F0DD41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8DF99-2F1C-C46C-FD23-5967CCD49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903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6A5BF3-9CC3-1248-9B10-7FA63A7DC5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9CD6-0D2A-CAA2-3A76-C120D295BD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0A8F-33C5-932C-E920-8E6A534F1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B9031-0AE0-E3E0-DAF3-24B8411B4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7169F-9C53-DD09-AD8A-879C9BFF5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1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462FA7-EFE6-C106-5E1A-91931EE94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2776B0-5298-E69E-E0F5-BF7A37D05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4EB423-1505-75A8-77AC-97B834F30C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207E1-98BB-4657-A02F-A4699824B338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335E5-9B35-911D-39BD-1148E7283F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861E42-0AFE-CEDB-AD7A-45B05E5E41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E6DF10-489F-41E6-89A1-4D8C191E0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114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2920A7-55CE-4F8C-B583-3CE51C4127B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17FAED-AEC4-88B7-66A8-3272A39A3D5A}"/>
              </a:ext>
            </a:extLst>
          </p:cNvPr>
          <p:cNvSpPr txBox="1"/>
          <p:nvPr/>
        </p:nvSpPr>
        <p:spPr>
          <a:xfrm>
            <a:off x="825500" y="787400"/>
            <a:ext cx="1896353" cy="264175"/>
          </a:xfrm>
          <a:prstGeom prst="rect">
            <a:avLst/>
          </a:prstGeom>
          <a:solidFill>
            <a:srgbClr val="E5B96E"/>
          </a:solidFill>
        </p:spPr>
        <p:txBody>
          <a:bodyPr vert="horz" wrap="none" lIns="114300" tIns="38100" rIns="114300" bIns="25400" rtlCol="0">
            <a:spAutoFit/>
          </a:bodyPr>
          <a:lstStyle/>
          <a:p>
            <a:r>
              <a:rPr lang="en-US" sz="1300" b="1">
                <a:solidFill>
                  <a:srgbClr val="11191D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2035 · SIAM PHIROM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EEE97B-D1DA-8E2F-66DB-22431FB9E9CB}"/>
              </a:ext>
            </a:extLst>
          </p:cNvPr>
          <p:cNvSpPr txBox="1"/>
          <p:nvPr/>
        </p:nvSpPr>
        <p:spPr>
          <a:xfrm>
            <a:off x="825500" y="1168400"/>
            <a:ext cx="7112000" cy="196977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6400" b="1">
                <a:solidFill>
                  <a:srgbClr val="FFF4DC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Scammer
No Scamming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03EC0C-B30A-D720-0263-ED6438EB477B}"/>
              </a:ext>
            </a:extLst>
          </p:cNvPr>
          <p:cNvSpPr/>
          <p:nvPr/>
        </p:nvSpPr>
        <p:spPr>
          <a:xfrm>
            <a:off x="825500" y="3315970"/>
            <a:ext cx="762000" cy="63500"/>
          </a:xfrm>
          <a:prstGeom prst="rect">
            <a:avLst/>
          </a:prstGeom>
          <a:solidFill>
            <a:srgbClr val="D9784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656ED-6358-F621-E405-D0B54CFBEBF9}"/>
              </a:ext>
            </a:extLst>
          </p:cNvPr>
          <p:cNvSpPr txBox="1"/>
          <p:nvPr/>
        </p:nvSpPr>
        <p:spPr>
          <a:xfrm>
            <a:off x="825500" y="3569970"/>
            <a:ext cx="66040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3000">
                <a:solidFill>
                  <a:srgbClr val="E5B96E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ม้าเหล็กหมดน้ำมัน</a:t>
            </a:r>
            <a:endParaRPr lang="en-US" sz="3000">
              <a:solidFill>
                <a:srgbClr val="E5B96E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AE80A7-08D9-6400-C9B5-C9A93C7699FD}"/>
              </a:ext>
            </a:extLst>
          </p:cNvPr>
          <p:cNvSpPr txBox="1"/>
          <p:nvPr/>
        </p:nvSpPr>
        <p:spPr>
          <a:xfrm>
            <a:off x="825500" y="4133235"/>
            <a:ext cx="660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0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ปี 2035 เมืองทั้งเมืองดับสนิท</a:t>
            </a:r>
            <a:endParaRPr lang="en-US" sz="20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2B3547-3262-8C40-6E95-32A71FD444E4}"/>
              </a:ext>
            </a:extLst>
          </p:cNvPr>
          <p:cNvSpPr txBox="1"/>
          <p:nvPr/>
        </p:nvSpPr>
        <p:spPr>
          <a:xfrm>
            <a:off x="825500" y="4542612"/>
            <a:ext cx="660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0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เหลือตำรวจสะอาดคนเดียว กับม้าหนึ่งตัว</a:t>
            </a:r>
            <a:endParaRPr lang="en-US" sz="20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83EA32-AEA0-B23E-B4B0-DA59B5A29428}"/>
              </a:ext>
            </a:extLst>
          </p:cNvPr>
          <p:cNvSpPr txBox="1"/>
          <p:nvPr/>
        </p:nvSpPr>
        <p:spPr>
          <a:xfrm>
            <a:off x="1524000" y="6135261"/>
            <a:ext cx="9144000" cy="405239"/>
          </a:xfrm>
          <a:prstGeom prst="rect">
            <a:avLst/>
          </a:prstGeom>
          <a:solidFill>
            <a:srgbClr val="090E11">
              <a:alpha val="78000"/>
            </a:srgbClr>
          </a:solidFill>
        </p:spPr>
        <p:txBody>
          <a:bodyPr vert="horz" wrap="square" lIns="152400" tIns="63500" rIns="152400" bIns="63500" rtlCol="0">
            <a:spAutoFit/>
          </a:bodyPr>
          <a:lstStyle/>
          <a:p>
            <a:pPr algn="ctr"/>
            <a:r>
              <a:rPr lang="th-TH">
                <a:solidFill>
                  <a:srgbClr val="FFFFFF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แก๊งสแกมดูดทั้งน้ำมัน ไฟ และเงินของผู้คน จนเมืองนี้ตาย</a:t>
            </a:r>
            <a:endParaRPr lang="en-US">
              <a:solidFill>
                <a:srgbClr val="FFFFFF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053520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>
        <p:fade thruBlk="1"/>
      </p:transition>
    </mc:Choice>
    <mc:Fallback>
      <p:transition spd="slow" advTm="12000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30574A-A641-663D-3C4A-B897FCAF651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E013-6ECC-2F6F-9269-A9B5D09BC267}"/>
              </a:ext>
            </a:extLst>
          </p:cNvPr>
          <p:cNvSpPr txBox="1"/>
          <p:nvPr/>
        </p:nvSpPr>
        <p:spPr>
          <a:xfrm>
            <a:off x="825500" y="787400"/>
            <a:ext cx="1756763" cy="264175"/>
          </a:xfrm>
          <a:prstGeom prst="rect">
            <a:avLst/>
          </a:prstGeom>
          <a:solidFill>
            <a:srgbClr val="E5B96E"/>
          </a:solidFill>
        </p:spPr>
        <p:txBody>
          <a:bodyPr vert="horz" wrap="none" lIns="114300" tIns="38100" rIns="114300" bIns="25400" rtlCol="0">
            <a:spAutoFit/>
          </a:bodyPr>
          <a:lstStyle/>
          <a:p>
            <a:r>
              <a:rPr lang="en-US" sz="1300" b="1">
                <a:solidFill>
                  <a:srgbClr val="11191D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THE REAL DAMAGE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8F2029-883F-F9EA-3477-9B249A54CC5B}"/>
              </a:ext>
            </a:extLst>
          </p:cNvPr>
          <p:cNvSpPr txBox="1"/>
          <p:nvPr/>
        </p:nvSpPr>
        <p:spPr>
          <a:xfrm>
            <a:off x="825500" y="1168400"/>
            <a:ext cx="7112000" cy="246221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8000" b="1">
                <a:solidFill>
                  <a:srgbClr val="E5B96E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121,921 คดี
ใน 4 เดือน</a:t>
            </a:r>
            <a:endParaRPr lang="en-US" sz="8000" b="1">
              <a:solidFill>
                <a:srgbClr val="E5B96E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ED8D25-EA30-2DBB-E866-FE427E978A5F}"/>
              </a:ext>
            </a:extLst>
          </p:cNvPr>
          <p:cNvSpPr/>
          <p:nvPr/>
        </p:nvSpPr>
        <p:spPr>
          <a:xfrm>
            <a:off x="825500" y="3808413"/>
            <a:ext cx="762000" cy="63500"/>
          </a:xfrm>
          <a:prstGeom prst="rect">
            <a:avLst/>
          </a:prstGeom>
          <a:solidFill>
            <a:srgbClr val="D9784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61E5FB-C141-CBD5-A14A-DA09F0D7DA32}"/>
              </a:ext>
            </a:extLst>
          </p:cNvPr>
          <p:cNvSpPr txBox="1"/>
          <p:nvPr/>
        </p:nvSpPr>
        <p:spPr>
          <a:xfrm>
            <a:off x="825500" y="4062413"/>
            <a:ext cx="66040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3000">
                <a:solidFill>
                  <a:srgbClr val="FFF4DC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เสียหาย 7.48 พันล้านบาท</a:t>
            </a:r>
            <a:endParaRPr lang="en-US" sz="3000">
              <a:solidFill>
                <a:srgbClr val="FFF4DC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E2CB31-469D-3EBD-E5BB-3DDCF3B4F26E}"/>
              </a:ext>
            </a:extLst>
          </p:cNvPr>
          <p:cNvSpPr txBox="1"/>
          <p:nvPr/>
        </p:nvSpPr>
        <p:spPr>
          <a:xfrm>
            <a:off x="825500" y="5689600"/>
            <a:ext cx="711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1100">
                <a:solidFill>
                  <a:srgbClr val="C8B894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ม.ค.-เม.ย. 2569 · ที่มา: ศูนย์ต่อต้านการฉ้อโกงออนไลน์ (</a:t>
            </a:r>
            <a:r>
              <a:rPr lang="en-US" sz="1100">
                <a:solidFill>
                  <a:srgbClr val="C8B894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ACSC) </a:t>
            </a:r>
            <a:r>
              <a:rPr lang="th-TH" sz="1100">
                <a:solidFill>
                  <a:srgbClr val="C8B894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ผ่าน </a:t>
            </a:r>
            <a:r>
              <a:rPr lang="en-US" sz="1100">
                <a:solidFill>
                  <a:srgbClr val="C8B894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Thai PBS Verify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EE19C5-790A-9741-4AE7-9CB4BEB3E669}"/>
              </a:ext>
            </a:extLst>
          </p:cNvPr>
          <p:cNvSpPr txBox="1"/>
          <p:nvPr/>
        </p:nvSpPr>
        <p:spPr>
          <a:xfrm>
            <a:off x="1524000" y="6135261"/>
            <a:ext cx="9144000" cy="405239"/>
          </a:xfrm>
          <a:prstGeom prst="rect">
            <a:avLst/>
          </a:prstGeom>
          <a:solidFill>
            <a:srgbClr val="090E11">
              <a:alpha val="78000"/>
            </a:srgbClr>
          </a:solidFill>
        </p:spPr>
        <p:txBody>
          <a:bodyPr vert="horz" wrap="square" lIns="152400" tIns="63500" rIns="152400" bIns="63500" rtlCol="0">
            <a:spAutoFit/>
          </a:bodyPr>
          <a:lstStyle/>
          <a:p>
            <a:pPr algn="ctr"/>
            <a:r>
              <a:rPr lang="th-TH">
                <a:solidFill>
                  <a:srgbClr val="FFFFFF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นี่ไม่ใช่ตัวเลขในเกม นี่คือความเสียหายจริงของคนไทย</a:t>
            </a:r>
            <a:endParaRPr lang="en-US">
              <a:solidFill>
                <a:srgbClr val="FFFFFF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8212900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00">
        <p:fade thruBlk="1"/>
      </p:transition>
    </mc:Choice>
    <mc:Fallback>
      <p:transition spd="slow" advTm="15000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27CBA7-FA0D-A746-003E-B58EED2658D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2A7C1A7-ADFD-A06F-482E-0955DEF3A49B}"/>
              </a:ext>
            </a:extLst>
          </p:cNvPr>
          <p:cNvSpPr txBox="1"/>
          <p:nvPr/>
        </p:nvSpPr>
        <p:spPr>
          <a:xfrm>
            <a:off x="825500" y="787400"/>
            <a:ext cx="1715021" cy="264175"/>
          </a:xfrm>
          <a:prstGeom prst="rect">
            <a:avLst/>
          </a:prstGeom>
          <a:solidFill>
            <a:srgbClr val="E5B96E"/>
          </a:solidFill>
        </p:spPr>
        <p:txBody>
          <a:bodyPr vert="horz" wrap="none" lIns="114300" tIns="38100" rIns="114300" bIns="25400" rtlCol="0">
            <a:spAutoFit/>
          </a:bodyPr>
          <a:lstStyle/>
          <a:p>
            <a:r>
              <a:rPr lang="en-US" sz="1300" b="1">
                <a:solidFill>
                  <a:srgbClr val="11191D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TARGET AUDIENCE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391B01-2621-847F-5E66-10B5DA19F293}"/>
              </a:ext>
            </a:extLst>
          </p:cNvPr>
          <p:cNvSpPr txBox="1"/>
          <p:nvPr/>
        </p:nvSpPr>
        <p:spPr>
          <a:xfrm>
            <a:off x="825500" y="1168400"/>
            <a:ext cx="7112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5400" b="1">
                <a:solidFill>
                  <a:srgbClr val="FFF4DC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ใครก็โดนหลอกได้</a:t>
            </a:r>
            <a:endParaRPr lang="en-US" sz="5400" b="1">
              <a:solidFill>
                <a:srgbClr val="FFF4DC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D386B5-B03B-F4AC-7DA7-113D28BF4A8D}"/>
              </a:ext>
            </a:extLst>
          </p:cNvPr>
          <p:cNvSpPr/>
          <p:nvPr/>
        </p:nvSpPr>
        <p:spPr>
          <a:xfrm>
            <a:off x="825500" y="2177197"/>
            <a:ext cx="762000" cy="63500"/>
          </a:xfrm>
          <a:prstGeom prst="rect">
            <a:avLst/>
          </a:prstGeom>
          <a:solidFill>
            <a:srgbClr val="D9784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212857-2607-1711-738C-BD5B02F58504}"/>
              </a:ext>
            </a:extLst>
          </p:cNvPr>
          <p:cNvSpPr txBox="1"/>
          <p:nvPr/>
        </p:nvSpPr>
        <p:spPr>
          <a:xfrm>
            <a:off x="825500" y="2431197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วัยรุ่น และวัยทำงาน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51B875-31A5-88E2-0D62-A5A1B113F4F7}"/>
              </a:ext>
            </a:extLst>
          </p:cNvPr>
          <p:cNvSpPr txBox="1"/>
          <p:nvPr/>
        </p:nvSpPr>
        <p:spPr>
          <a:xfrm>
            <a:off x="825500" y="2871351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คนที่มือถือไม่เคยห่างมือ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7C8398-92B2-B00C-DE4E-38FE638AF123}"/>
              </a:ext>
            </a:extLst>
          </p:cNvPr>
          <p:cNvSpPr txBox="1"/>
          <p:nvPr/>
        </p:nvSpPr>
        <p:spPr>
          <a:xfrm>
            <a:off x="1524000" y="6135261"/>
            <a:ext cx="9144000" cy="405239"/>
          </a:xfrm>
          <a:prstGeom prst="rect">
            <a:avLst/>
          </a:prstGeom>
          <a:solidFill>
            <a:srgbClr val="090E11">
              <a:alpha val="78000"/>
            </a:srgbClr>
          </a:solidFill>
        </p:spPr>
        <p:txBody>
          <a:bodyPr vert="horz" wrap="square" lIns="152400" tIns="63500" rIns="152400" bIns="63500" rtlCol="0">
            <a:spAutoFit/>
          </a:bodyPr>
          <a:lstStyle/>
          <a:p>
            <a:pPr algn="ctr"/>
            <a:r>
              <a:rPr lang="th-TH">
                <a:solidFill>
                  <a:srgbClr val="FFFFFF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ถ้าคุณเคยซื้อของออนไลน์ หรือกดลิงก์จากแชต เกมนี้ทำมาเพื่อคุณ</a:t>
            </a:r>
            <a:endParaRPr lang="en-US">
              <a:solidFill>
                <a:srgbClr val="FFFFFF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7077659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>
        <p:fade thruBlk="1"/>
      </p:transition>
    </mc:Choice>
    <mc:Fallback>
      <p:transition spd="slow" advTm="13000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B79B36-4D9B-0B0B-BB1F-E589E704471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62C7-3735-D0B4-DCC2-F6DFF2996609}"/>
              </a:ext>
            </a:extLst>
          </p:cNvPr>
          <p:cNvSpPr txBox="1"/>
          <p:nvPr/>
        </p:nvSpPr>
        <p:spPr>
          <a:xfrm>
            <a:off x="825500" y="787400"/>
            <a:ext cx="1512786" cy="264175"/>
          </a:xfrm>
          <a:prstGeom prst="rect">
            <a:avLst/>
          </a:prstGeom>
          <a:solidFill>
            <a:srgbClr val="E5B96E"/>
          </a:solidFill>
        </p:spPr>
        <p:txBody>
          <a:bodyPr vert="horz" wrap="none" lIns="114300" tIns="38100" rIns="114300" bIns="25400" rtlCol="0">
            <a:spAutoFit/>
          </a:bodyPr>
          <a:lstStyle/>
          <a:p>
            <a:r>
              <a:rPr lang="en-US" sz="1300" b="1">
                <a:solidFill>
                  <a:srgbClr val="11191D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GAME CONCEPT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A9D539-3FE4-7C47-16CA-30AF72685DDE}"/>
              </a:ext>
            </a:extLst>
          </p:cNvPr>
          <p:cNvSpPr txBox="1"/>
          <p:nvPr/>
        </p:nvSpPr>
        <p:spPr>
          <a:xfrm>
            <a:off x="825500" y="1168400"/>
            <a:ext cx="7112000" cy="166199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5400" b="1">
                <a:solidFill>
                  <a:srgbClr val="FFF4DC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คาวบอย
ไล่ปิดรังสแกม</a:t>
            </a:r>
            <a:endParaRPr lang="en-US" sz="5400" b="1">
              <a:solidFill>
                <a:srgbClr val="FFF4DC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8DC691-C2A5-A85A-BC03-C989C16CF8CE}"/>
              </a:ext>
            </a:extLst>
          </p:cNvPr>
          <p:cNvSpPr/>
          <p:nvPr/>
        </p:nvSpPr>
        <p:spPr>
          <a:xfrm>
            <a:off x="825500" y="3008193"/>
            <a:ext cx="762000" cy="63500"/>
          </a:xfrm>
          <a:prstGeom prst="rect">
            <a:avLst/>
          </a:prstGeom>
          <a:solidFill>
            <a:srgbClr val="D9784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7CCE37-C53D-3817-DD26-3A04943DF557}"/>
              </a:ext>
            </a:extLst>
          </p:cNvPr>
          <p:cNvSpPr txBox="1"/>
          <p:nvPr/>
        </p:nvSpPr>
        <p:spPr>
          <a:xfrm>
            <a:off x="825500" y="3262193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เมืองวงแหวน สถานีตำรวจอยู่ใจกลาง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A1837-A9C2-FB3A-B7E8-07241DBAE3C7}"/>
              </a:ext>
            </a:extLst>
          </p:cNvPr>
          <p:cNvSpPr txBox="1"/>
          <p:nvPr/>
        </p:nvSpPr>
        <p:spPr>
          <a:xfrm>
            <a:off x="825500" y="3702347"/>
            <a:ext cx="6604000" cy="47397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ตึกสูง → ตึกแถว → บ้าน · ถนนหลัก 4 ทิศ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423107-058B-1FAE-5368-C58D63DD7303}"/>
              </a:ext>
            </a:extLst>
          </p:cNvPr>
          <p:cNvSpPr txBox="1"/>
          <p:nvPr/>
        </p:nvSpPr>
        <p:spPr>
          <a:xfrm>
            <a:off x="1524000" y="6135261"/>
            <a:ext cx="9144000" cy="405239"/>
          </a:xfrm>
          <a:prstGeom prst="rect">
            <a:avLst/>
          </a:prstGeom>
          <a:solidFill>
            <a:srgbClr val="090E11">
              <a:alpha val="78000"/>
            </a:srgbClr>
          </a:solidFill>
        </p:spPr>
        <p:txBody>
          <a:bodyPr vert="horz" wrap="square" lIns="152400" tIns="63500" rIns="152400" bIns="63500" rtlCol="0">
            <a:spAutoFit/>
          </a:bodyPr>
          <a:lstStyle/>
          <a:p>
            <a:pPr algn="ctr"/>
            <a:r>
              <a:rPr lang="th-TH">
                <a:solidFill>
                  <a:srgbClr val="FFFFFF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อ่านเบาะแส ปักหมุดรังให้ถูกโซน ถูกทิศ แล้วออกล่า</a:t>
            </a:r>
            <a:endParaRPr lang="en-US">
              <a:solidFill>
                <a:srgbClr val="FFFFFF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1142308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000">
        <p:fade thruBlk="1"/>
      </p:transition>
    </mc:Choice>
    <mc:Fallback>
      <p:transition spd="slow" advTm="14000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1F6784-C5A3-8297-0BAA-912572FAB6A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9A6F35-388A-4C9B-8849-3EFC9EC25DF9}"/>
              </a:ext>
            </a:extLst>
          </p:cNvPr>
          <p:cNvSpPr txBox="1"/>
          <p:nvPr/>
        </p:nvSpPr>
        <p:spPr>
          <a:xfrm>
            <a:off x="825500" y="787400"/>
            <a:ext cx="1582421" cy="264175"/>
          </a:xfrm>
          <a:prstGeom prst="rect">
            <a:avLst/>
          </a:prstGeom>
          <a:solidFill>
            <a:srgbClr val="E5B96E"/>
          </a:solidFill>
        </p:spPr>
        <p:txBody>
          <a:bodyPr vert="horz" wrap="none" lIns="114300" tIns="38100" rIns="114300" bIns="25400" rtlCol="0">
            <a:spAutoFit/>
          </a:bodyPr>
          <a:lstStyle/>
          <a:p>
            <a:r>
              <a:rPr lang="en-US" sz="1300" b="1">
                <a:solidFill>
                  <a:srgbClr val="11191D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CORE GAMEPLAY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241605-EBE2-FE8F-0BE4-DDB41CD93E92}"/>
              </a:ext>
            </a:extLst>
          </p:cNvPr>
          <p:cNvSpPr txBox="1"/>
          <p:nvPr/>
        </p:nvSpPr>
        <p:spPr>
          <a:xfrm>
            <a:off x="825500" y="1168400"/>
            <a:ext cx="7112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5400" b="1">
                <a:solidFill>
                  <a:srgbClr val="FFF4DC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1 คดี 6 ขั้น</a:t>
            </a:r>
            <a:endParaRPr lang="en-US" sz="5400" b="1">
              <a:solidFill>
                <a:srgbClr val="FFF4DC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8899CD-DFB4-1F75-8F9A-0AD732C84700}"/>
              </a:ext>
            </a:extLst>
          </p:cNvPr>
          <p:cNvSpPr/>
          <p:nvPr/>
        </p:nvSpPr>
        <p:spPr>
          <a:xfrm>
            <a:off x="825500" y="2177197"/>
            <a:ext cx="762000" cy="63500"/>
          </a:xfrm>
          <a:prstGeom prst="rect">
            <a:avLst/>
          </a:prstGeom>
          <a:solidFill>
            <a:srgbClr val="D9784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61DE2E-9375-FE30-B300-5F4323DD2CA3}"/>
              </a:ext>
            </a:extLst>
          </p:cNvPr>
          <p:cNvSpPr txBox="1"/>
          <p:nvPr/>
        </p:nvSpPr>
        <p:spPr>
          <a:xfrm>
            <a:off x="825500" y="2431197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1. ฟังผู้เสียหาย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05A9F6-263C-2FED-688D-A0BB2F800D8E}"/>
              </a:ext>
            </a:extLst>
          </p:cNvPr>
          <p:cNvSpPr txBox="1"/>
          <p:nvPr/>
        </p:nvSpPr>
        <p:spPr>
          <a:xfrm>
            <a:off x="825500" y="2871351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2. หารังบนแผนที่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BB8F96-E027-6E34-76DE-F22FED5615B2}"/>
              </a:ext>
            </a:extLst>
          </p:cNvPr>
          <p:cNvSpPr txBox="1"/>
          <p:nvPr/>
        </p:nvSpPr>
        <p:spPr>
          <a:xfrm>
            <a:off x="825500" y="3311505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3. แต่งยีนม้า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5F5249-095C-5D26-0CBA-E0B8B5F3EDF0}"/>
              </a:ext>
            </a:extLst>
          </p:cNvPr>
          <p:cNvSpPr txBox="1"/>
          <p:nvPr/>
        </p:nvSpPr>
        <p:spPr>
          <a:xfrm>
            <a:off x="825500" y="3751659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4. ขี่ผ่านกับดัก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D77EDA-A0FB-076C-A23B-6AF2A1736475}"/>
              </a:ext>
            </a:extLst>
          </p:cNvPr>
          <p:cNvSpPr txBox="1"/>
          <p:nvPr/>
        </p:nvSpPr>
        <p:spPr>
          <a:xfrm>
            <a:off x="825500" y="4191813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5. บุกรัง ห้ามยิงเหยื่อ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0451D4-344D-5DAE-1175-916533B2531F}"/>
              </a:ext>
            </a:extLst>
          </p:cNvPr>
          <p:cNvSpPr txBox="1"/>
          <p:nvPr/>
        </p:nvSpPr>
        <p:spPr>
          <a:xfrm>
            <a:off x="825500" y="4631967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6. Seal </a:t>
            </a:r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หลักฐาน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F3B82B-91CE-0833-3F18-F215A002D6A3}"/>
              </a:ext>
            </a:extLst>
          </p:cNvPr>
          <p:cNvSpPr txBox="1"/>
          <p:nvPr/>
        </p:nvSpPr>
        <p:spPr>
          <a:xfrm>
            <a:off x="1524000" y="6135261"/>
            <a:ext cx="9144000" cy="405239"/>
          </a:xfrm>
          <a:prstGeom prst="rect">
            <a:avLst/>
          </a:prstGeom>
          <a:solidFill>
            <a:srgbClr val="090E11">
              <a:alpha val="78000"/>
            </a:srgbClr>
          </a:solidFill>
        </p:spPr>
        <p:txBody>
          <a:bodyPr vert="horz" wrap="square" lIns="152400" tIns="63500" rIns="152400" bIns="63500" rtlCol="0">
            <a:spAutoFit/>
          </a:bodyPr>
          <a:lstStyle/>
          <a:p>
            <a:pPr algn="ctr"/>
            <a:r>
              <a:rPr lang="th-TH">
                <a:solidFill>
                  <a:srgbClr val="FFFFFF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ทุกคดีเริ่มจากเรื่องของคนที่โดนหลอก และจบที่หลักฐานถูก </a:t>
            </a:r>
            <a:r>
              <a:rPr lang="en-US">
                <a:solidFill>
                  <a:srgbClr val="FFFFFF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Seal</a:t>
            </a:r>
          </a:p>
        </p:txBody>
      </p:sp>
    </p:spTree>
    <p:extLst>
      <p:ext uri="{BB962C8B-B14F-4D97-AF65-F5344CB8AC3E}">
        <p14:creationId xmlns:p14="http://schemas.microsoft.com/office/powerpoint/2010/main" val="23827946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8000">
        <p:fade thruBlk="1"/>
      </p:transition>
    </mc:Choice>
    <mc:Fallback>
      <p:transition spd="slow" advTm="18000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0B3FE5-68C3-A451-FC2F-6992C396761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0FA99FF-41CA-3CAD-F0A5-A00A3A62FC43}"/>
              </a:ext>
            </a:extLst>
          </p:cNvPr>
          <p:cNvSpPr txBox="1"/>
          <p:nvPr/>
        </p:nvSpPr>
        <p:spPr>
          <a:xfrm>
            <a:off x="825500" y="787400"/>
            <a:ext cx="2125582" cy="264175"/>
          </a:xfrm>
          <a:prstGeom prst="rect">
            <a:avLst/>
          </a:prstGeom>
          <a:solidFill>
            <a:srgbClr val="E5B96E"/>
          </a:solidFill>
        </p:spPr>
        <p:txBody>
          <a:bodyPr vert="horz" wrap="none" lIns="114300" tIns="38100" rIns="114300" bIns="25400" rtlCol="0">
            <a:spAutoFit/>
          </a:bodyPr>
          <a:lstStyle/>
          <a:p>
            <a:r>
              <a:rPr lang="en-US" sz="1300" b="1">
                <a:solidFill>
                  <a:srgbClr val="11191D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UNIQUE SELLING POINT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61A4E8-47C4-2F71-4DC4-2BBFCA1FB0F9}"/>
              </a:ext>
            </a:extLst>
          </p:cNvPr>
          <p:cNvSpPr txBox="1"/>
          <p:nvPr/>
        </p:nvSpPr>
        <p:spPr>
          <a:xfrm>
            <a:off x="825500" y="1168400"/>
            <a:ext cx="7112000" cy="166199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5400" b="1">
                <a:solidFill>
                  <a:srgbClr val="FFF4DC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หยุดคิด = รอด
รีบ = โดน</a:t>
            </a:r>
            <a:endParaRPr lang="en-US" sz="5400" b="1">
              <a:solidFill>
                <a:srgbClr val="FFF4DC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60A628-46A4-84D7-065A-E4B8BCC325B1}"/>
              </a:ext>
            </a:extLst>
          </p:cNvPr>
          <p:cNvSpPr/>
          <p:nvPr/>
        </p:nvSpPr>
        <p:spPr>
          <a:xfrm>
            <a:off x="825500" y="3008193"/>
            <a:ext cx="762000" cy="63500"/>
          </a:xfrm>
          <a:prstGeom prst="rect">
            <a:avLst/>
          </a:prstGeom>
          <a:solidFill>
            <a:srgbClr val="D9784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3D5773-68EC-8086-BF31-3B78C037ACA3}"/>
              </a:ext>
            </a:extLst>
          </p:cNvPr>
          <p:cNvSpPr txBox="1"/>
          <p:nvPr/>
        </p:nvSpPr>
        <p:spPr>
          <a:xfrm>
            <a:off x="825500" y="3262193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กับดักทุกแบบเลียนแบบสแกมจริง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845891-D37E-1EA4-1405-A36964D4CC98}"/>
              </a:ext>
            </a:extLst>
          </p:cNvPr>
          <p:cNvSpPr txBox="1"/>
          <p:nvPr/>
        </p:nvSpPr>
        <p:spPr>
          <a:xfrm>
            <a:off x="825500" y="3702347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มีสัญญาณให้สังเกตก่อนเสมอ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6966B9-0A13-5C0B-E011-80472CA5E2A7}"/>
              </a:ext>
            </a:extLst>
          </p:cNvPr>
          <p:cNvSpPr txBox="1"/>
          <p:nvPr/>
        </p:nvSpPr>
        <p:spPr>
          <a:xfrm>
            <a:off x="1524000" y="6135261"/>
            <a:ext cx="9144000" cy="405239"/>
          </a:xfrm>
          <a:prstGeom prst="rect">
            <a:avLst/>
          </a:prstGeom>
          <a:solidFill>
            <a:srgbClr val="090E11">
              <a:alpha val="78000"/>
            </a:srgbClr>
          </a:solidFill>
        </p:spPr>
        <p:txBody>
          <a:bodyPr vert="horz" wrap="square" lIns="152400" tIns="63500" rIns="152400" bIns="63500" rtlCol="0">
            <a:spAutoFit/>
          </a:bodyPr>
          <a:lstStyle/>
          <a:p>
            <a:pPr algn="ctr"/>
            <a:r>
              <a:rPr lang="th-TH">
                <a:solidFill>
                  <a:srgbClr val="FFFFFF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กล่องไหนจริง กล่องไหนปลอม? คนที่จ้องคุณอยู่ ไว้ใจได้ไหม?</a:t>
            </a:r>
            <a:endParaRPr lang="en-US">
              <a:solidFill>
                <a:srgbClr val="FFFFFF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8887794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000">
        <p:fade thruBlk="1"/>
      </p:transition>
    </mc:Choice>
    <mc:Fallback>
      <p:transition spd="slow" advTm="17000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143311-B5EB-8114-BB73-A39199AB6A9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80A524-0A77-61E2-11D4-650B8D3E59D0}"/>
              </a:ext>
            </a:extLst>
          </p:cNvPr>
          <p:cNvSpPr txBox="1"/>
          <p:nvPr/>
        </p:nvSpPr>
        <p:spPr>
          <a:xfrm>
            <a:off x="825500" y="787400"/>
            <a:ext cx="1834669" cy="264175"/>
          </a:xfrm>
          <a:prstGeom prst="rect">
            <a:avLst/>
          </a:prstGeom>
          <a:solidFill>
            <a:srgbClr val="E5B96E"/>
          </a:solidFill>
        </p:spPr>
        <p:txBody>
          <a:bodyPr vert="horz" wrap="none" lIns="114300" tIns="38100" rIns="114300" bIns="25400" rtlCol="0">
            <a:spAutoFit/>
          </a:bodyPr>
          <a:lstStyle/>
          <a:p>
            <a:r>
              <a:rPr lang="en-US" sz="1300" b="1">
                <a:solidFill>
                  <a:srgbClr val="11191D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PLAYER EXPERIENCE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C4778F-2AC8-AD86-979D-74C0B595E672}"/>
              </a:ext>
            </a:extLst>
          </p:cNvPr>
          <p:cNvSpPr txBox="1"/>
          <p:nvPr/>
        </p:nvSpPr>
        <p:spPr>
          <a:xfrm>
            <a:off x="825500" y="1168400"/>
            <a:ext cx="7112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5400" b="1">
                <a:solidFill>
                  <a:srgbClr val="FFF4DC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จับทัน = ภูมิใจ</a:t>
            </a:r>
            <a:endParaRPr lang="en-US" sz="5400" b="1">
              <a:solidFill>
                <a:srgbClr val="FFF4DC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425C9D-B2AC-02F7-4BB2-88DB1571697A}"/>
              </a:ext>
            </a:extLst>
          </p:cNvPr>
          <p:cNvSpPr/>
          <p:nvPr/>
        </p:nvSpPr>
        <p:spPr>
          <a:xfrm>
            <a:off x="825500" y="2177197"/>
            <a:ext cx="762000" cy="63500"/>
          </a:xfrm>
          <a:prstGeom prst="rect">
            <a:avLst/>
          </a:prstGeom>
          <a:solidFill>
            <a:srgbClr val="D9784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C32501-BB1A-EF17-922D-2F3A3FE03789}"/>
              </a:ext>
            </a:extLst>
          </p:cNvPr>
          <p:cNvSpPr txBox="1"/>
          <p:nvPr/>
        </p:nvSpPr>
        <p:spPr>
          <a:xfrm>
            <a:off x="825500" y="2431197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ตื่นเต้น แต่ต้องแยกให้ออกว่าใครคือเหยื่อ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CF0379-9F49-DFA0-E817-0CED892495F8}"/>
              </a:ext>
            </a:extLst>
          </p:cNvPr>
          <p:cNvSpPr txBox="1"/>
          <p:nvPr/>
        </p:nvSpPr>
        <p:spPr>
          <a:xfrm>
            <a:off x="825500" y="2871351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หน้าบทเรียนเฉลยสแกมของจริง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F5A72C-F95A-990D-F694-F7149AE8CBED}"/>
              </a:ext>
            </a:extLst>
          </p:cNvPr>
          <p:cNvSpPr txBox="1"/>
          <p:nvPr/>
        </p:nvSpPr>
        <p:spPr>
          <a:xfrm>
            <a:off x="825500" y="3311505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คดีสุ่ม · ฉากจบ 2 แบบ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A67CEA-322F-5B50-592B-F89967057862}"/>
              </a:ext>
            </a:extLst>
          </p:cNvPr>
          <p:cNvSpPr txBox="1"/>
          <p:nvPr/>
        </p:nvSpPr>
        <p:spPr>
          <a:xfrm>
            <a:off x="1524000" y="6135261"/>
            <a:ext cx="9144000" cy="405239"/>
          </a:xfrm>
          <a:prstGeom prst="rect">
            <a:avLst/>
          </a:prstGeom>
          <a:solidFill>
            <a:srgbClr val="090E11">
              <a:alpha val="78000"/>
            </a:srgbClr>
          </a:solidFill>
        </p:spPr>
        <p:txBody>
          <a:bodyPr vert="horz" wrap="square" lIns="152400" tIns="63500" rIns="152400" bIns="63500" rtlCol="0">
            <a:spAutoFit/>
          </a:bodyPr>
          <a:lstStyle/>
          <a:p>
            <a:pPr algn="ctr"/>
            <a:r>
              <a:rPr lang="th-TH">
                <a:solidFill>
                  <a:srgbClr val="FFFFFF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เราไม่ได้สอนวิธีในเกม แต่ฝึกให้คิดก่อน เพื่อภูมิต้านทานในชีวิตจริง</a:t>
            </a:r>
            <a:endParaRPr lang="en-US">
              <a:solidFill>
                <a:srgbClr val="FFFFFF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6044162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000">
        <p:fade thruBlk="1"/>
      </p:transition>
    </mc:Choice>
    <mc:Fallback>
      <p:transition spd="slow" advTm="17000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8BB68C-0B7A-3CEA-2BC4-C642C170E86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CE7879D-52DC-C229-FACB-AED2BC69BA20}"/>
              </a:ext>
            </a:extLst>
          </p:cNvPr>
          <p:cNvSpPr txBox="1"/>
          <p:nvPr/>
        </p:nvSpPr>
        <p:spPr>
          <a:xfrm>
            <a:off x="825500" y="787400"/>
            <a:ext cx="1914307" cy="264175"/>
          </a:xfrm>
          <a:prstGeom prst="rect">
            <a:avLst/>
          </a:prstGeom>
          <a:solidFill>
            <a:srgbClr val="E5B96E"/>
          </a:solidFill>
        </p:spPr>
        <p:txBody>
          <a:bodyPr vert="horz" wrap="none" lIns="114300" tIns="38100" rIns="114300" bIns="25400" rtlCol="0">
            <a:spAutoFit/>
          </a:bodyPr>
          <a:lstStyle/>
          <a:p>
            <a:r>
              <a:rPr lang="en-US" sz="1300" b="1">
                <a:solidFill>
                  <a:srgbClr val="11191D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DEVELOPMENT PLAN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99116E-26FF-8416-A965-7EF1D77C402A}"/>
              </a:ext>
            </a:extLst>
          </p:cNvPr>
          <p:cNvSpPr txBox="1"/>
          <p:nvPr/>
        </p:nvSpPr>
        <p:spPr>
          <a:xfrm>
            <a:off x="825500" y="1168400"/>
            <a:ext cx="7112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5400" b="1">
                <a:solidFill>
                  <a:srgbClr val="FFF4DC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อีก 2 วันได้เล่น</a:t>
            </a:r>
            <a:endParaRPr lang="en-US" sz="5400" b="1">
              <a:solidFill>
                <a:srgbClr val="FFF4DC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6F36FB-349D-4C1E-8909-16FE06F9F228}"/>
              </a:ext>
            </a:extLst>
          </p:cNvPr>
          <p:cNvSpPr/>
          <p:nvPr/>
        </p:nvSpPr>
        <p:spPr>
          <a:xfrm>
            <a:off x="825500" y="2177197"/>
            <a:ext cx="762000" cy="63500"/>
          </a:xfrm>
          <a:prstGeom prst="rect">
            <a:avLst/>
          </a:prstGeom>
          <a:solidFill>
            <a:srgbClr val="D9784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ABDC6A-6A93-6669-83BF-8DEBE0D8CC49}"/>
              </a:ext>
            </a:extLst>
          </p:cNvPr>
          <p:cNvSpPr txBox="1"/>
          <p:nvPr/>
        </p:nvSpPr>
        <p:spPr>
          <a:xfrm>
            <a:off x="825500" y="2431197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เสร็จแล้ว: ขี่ม้า · ยิง · เมือง · ยีน · กับดัก 4 แบบ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F6124-9D61-7763-FC70-6130ABBB42A3}"/>
              </a:ext>
            </a:extLst>
          </p:cNvPr>
          <p:cNvSpPr txBox="1"/>
          <p:nvPr/>
        </p:nvSpPr>
        <p:spPr>
          <a:xfrm>
            <a:off x="825500" y="2871351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24 ต.ค.: ศัตรู · คดีครบลูป · </a:t>
            </a:r>
            <a:r>
              <a:rPr lang="en-US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UI </a:t>
            </a:r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ไทย · ทดสอบกับคนจริง</a:t>
            </a:r>
            <a:endParaRPr lang="en-US" sz="2200">
              <a:solidFill>
                <a:srgbClr val="EDE2C8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68FE93-3E30-A005-65F1-868A171A5BB7}"/>
              </a:ext>
            </a:extLst>
          </p:cNvPr>
          <p:cNvSpPr txBox="1"/>
          <p:nvPr/>
        </p:nvSpPr>
        <p:spPr>
          <a:xfrm>
            <a:off x="825500" y="3311505"/>
            <a:ext cx="660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th-TH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25 ต.ค.: ส่งขึ้น </a:t>
            </a:r>
            <a:r>
              <a:rPr lang="en-US" sz="2200">
                <a:solidFill>
                  <a:srgbClr val="EDE2C8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itch.io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637F-8737-B845-D3AD-FE96B0D545E0}"/>
              </a:ext>
            </a:extLst>
          </p:cNvPr>
          <p:cNvSpPr txBox="1"/>
          <p:nvPr/>
        </p:nvSpPr>
        <p:spPr>
          <a:xfrm>
            <a:off x="1524000" y="6135261"/>
            <a:ext cx="9144000" cy="405239"/>
          </a:xfrm>
          <a:prstGeom prst="rect">
            <a:avLst/>
          </a:prstGeom>
          <a:solidFill>
            <a:srgbClr val="090E11">
              <a:alpha val="78000"/>
            </a:srgbClr>
          </a:solidFill>
        </p:spPr>
        <p:txBody>
          <a:bodyPr vert="horz" wrap="square" lIns="152400" tIns="63500" rIns="152400" bIns="63500" rtlCol="0">
            <a:spAutoFit/>
          </a:bodyPr>
          <a:lstStyle/>
          <a:p>
            <a:pPr algn="ctr"/>
            <a:r>
              <a:rPr lang="th-TH">
                <a:solidFill>
                  <a:srgbClr val="FFFFFF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เขียนเทสต์ไว้แล้ว 32 ตัว เจอกันบน </a:t>
            </a:r>
            <a:r>
              <a:rPr lang="en-US">
                <a:solidFill>
                  <a:srgbClr val="FFFFFF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itch.io </a:t>
            </a:r>
            <a:r>
              <a:rPr lang="th-TH">
                <a:solidFill>
                  <a:srgbClr val="FFFFFF"/>
                </a:solidFill>
                <a:latin typeface="Leelawadee UI" panose="020B0502040204020203" pitchFamily="34" charset="-34"/>
                <a:cs typeface="Leelawadee UI" panose="020B0502040204020203" pitchFamily="34" charset="-34"/>
              </a:rPr>
              <a:t>วันที่ 25 ต.ค.</a:t>
            </a:r>
            <a:endParaRPr lang="en-US">
              <a:solidFill>
                <a:srgbClr val="FFFFFF"/>
              </a:solidFill>
              <a:latin typeface="Leelawadee UI" panose="020B0502040204020203" pitchFamily="34" charset="-34"/>
              <a:cs typeface="Leelawadee UI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6036621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000">
        <p:fade thruBlk="1"/>
      </p:transition>
    </mc:Choice>
    <mc:Fallback>
      <p:transition spd="slow" advTm="14000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494</Words>
  <Application>Microsoft Office PowerPoint</Application>
  <PresentationFormat>Custom</PresentationFormat>
  <Paragraphs>63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chanawee kiatnitiprawat</dc:creator>
  <cp:lastModifiedBy>chanawee kiatnitiprawat</cp:lastModifiedBy>
  <cp:revision>1</cp:revision>
  <dcterms:created xsi:type="dcterms:W3CDTF">2026-10-23T11:41:41Z</dcterms:created>
  <dcterms:modified xsi:type="dcterms:W3CDTF">2026-10-23T11:41:41Z</dcterms:modified>
</cp:coreProperties>
</file>