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A58A8-5378-47FE-8FCB-12203B3D206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A9BD1-9E2D-4363-B5EC-8530CCD9B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04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ถ้าเคย… ไม่ต้องอาย เมืองนี้กดกันไปหมดแล้ว ปี 2035 แก๊งสแกมดูดน้ำมันกับไฟจนเกลี้ยง เหลือตำรวจมือสะอาดคนเดียว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A9BD1-9E2D-4363-B5EC-8530CCD9B8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51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ฟังเหมือนนิยายใช่ไหม แต่นี่ไม่ใช่ฉากในเกม… นี่คือ 4 เดือนแรกของปีนี้ ในโลกจริง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A9BD1-9E2D-4363-B5EC-8530CCD9B8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68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ไม่ใช่คนโง่… คือคนแบบเรานี่แหละ นั่งกินข้าว เลื่อนมือถือ แล้วเผลอกดไปทีเดียว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A9BD1-9E2D-4363-B5EC-8530CCD9B8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30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คุณคือสารวัตรเอก ขี่ม้าไล่ปิดรังสแกมในเมืองวงแหวน สถานีอยู่ตรงกลาง รังซ่อนอยู่ในตึกสูง ตึกแถว และบ้าน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A9BD1-9E2D-4363-B5EC-8530CCD9B8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73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ฟังเขาเล่าให้จบ เบาะแสซ่อนอยู่ในเรื่อง เดาให้ถูกว่ารังอยู่โซนไหน ทิศไหน… แล้วควบไปเลย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A9BD1-9E2D-4363-B5EC-8530CCD9B8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36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กล่องไหนปลอม? คนนั้นจ้องเราทำไม? หยุดดูก็รอด… รีบเมื่อไหร่ก็โดน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A9BD1-9E2D-4363-B5EC-8530CCD9B8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83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ตื่นเต้นตอนบุก แต่ภูมิใจที่สุดตอนจับพิรุธได้ทัน ยิงก่อนคิดเมื่อไหร่… ฉากจบเละเมื่อนั้น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A9BD1-9E2D-4363-B5EC-8530CCD9B82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37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มันอยู่ในมือถือของเราทุกคน เราไม่ได้สอนให้บุก แค่ให้ซ้อมคิดก่อนเจอจริง · 25 ต.ค. มาลองเอง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A9BD1-9E2D-4363-B5EC-8530CCD9B8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59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3E84-6D89-DE10-E71A-0689776E8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8FA57B-9640-2E75-79A1-F651E684A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F4F4A-09F4-F16E-7648-7DEBAC48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070B-CF93-F372-BE30-61CB59544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38002-F821-E253-4014-A21D04A20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3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666B-1718-94AC-39D1-5DE482D1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D992A-210A-5962-F201-C0DF66AB3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30196-9B59-555E-623E-A17EA43B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237D0-1270-0D8B-97AF-8234B55AD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F2B23-2927-8E4D-105E-7A97FC1C2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0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A7A3-54C6-DD9A-B388-84EF5E7F3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7E2A7-6CD2-723B-F2CC-17B0E5C58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81B5F-8CEA-EB91-6DC2-C1502325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34309-640C-EA9D-F6FA-A24D3DEE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15C74-4E48-AF23-89FF-E323C2F8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20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28EE6-AD5A-A7E3-E596-6770EDAD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A3068-6647-FF4E-8C1E-2A4B60BEB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4165F-B804-DA11-3D45-D14872110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D5E37-3924-17AB-FBCE-9D11FB015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B7AD1-76F1-604D-33E2-1AB03844D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0D368-B835-D2BF-8CCD-73C44D33C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7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BCBCD-5905-D769-45F5-BF5037397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829DA-904A-A9CB-1D4F-D2DA762E0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79F01-4678-C35F-BFF7-09748A064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FAE3F-4037-F220-CE5C-45FA2A61D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CDF23A-3A05-5062-1978-22CFFEE73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49AFC-A927-0602-FDE8-4C88C626F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2DF5C-67A3-EB23-3C11-2340D7104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E9D233-32D2-88CD-EC30-2B12E0B3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0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0CEA-A1A3-22EF-3985-343904D70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5A907-C779-09C4-BA8A-39771B314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3ADAC3-8C33-76A1-C2A1-1AB0B814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E08B0-4CB1-80E6-F129-3E4BFF53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81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1CD9D0-A1DF-3665-3E54-C029F6D7D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CECB64-B3D4-F5A8-F784-7E259198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BF262-F425-E927-E6E0-F5254B8E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8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C5754-7EEB-4461-91D7-45A6C4990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6DF5-5A09-99DA-D36C-EAEE053BF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7FDB7-99FD-CC49-B6A1-3ED3570D6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4BC6C-D950-3D78-8AD7-B55B1640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2DE1-AA92-B938-A94E-3F787E401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F9FD0-CB2F-D0D2-2417-90626A17F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05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E704-E106-D3DE-A77E-11985B861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2E9147-346C-B845-9513-9A6C537756A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B13B4-9FF2-4297-BF5F-95A2C9ED1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7E849-D8A4-B65A-EAF3-0B8A6EBB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E452B-DAE3-3F4F-8C13-F2EDF3D9F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42248-9451-F53C-F6F3-4DEDB635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9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090E-A35F-6308-06A4-E38F78C1E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8C71E-0C13-2BFC-513A-906411F9D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B667-9045-E692-0635-174172A3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5C169-9FCC-0070-F4FD-A03CE561B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EA3E3-5F99-2760-A0F1-AACA2FEC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8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709335-C682-322E-4402-9BBD6821E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7AE02-2FEA-2E73-0B4D-407051B3F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71F0B-9A8D-F2C8-CE02-CEDAB7081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BE1D-F2FE-B29F-B140-5FDE6542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16F2F-E586-547E-9ED8-73A21975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0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1E2348-AB61-8141-FFD1-310BB9851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05B83-9D2D-C647-B371-3E9277922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2FDDD-120A-DE8B-801D-D5261C04F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9AB8E-44BB-4368-9728-49F02EB6B466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2BF28-7B32-9350-59AB-97CAFF65D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702D5-13B7-1050-0005-E77459205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98694-CA1C-4C6B-A60F-A4914DFE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9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CE885C-5A6C-E04E-7DE0-DD4C257FC70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A8E0F0-FC48-33F1-F069-6CEB7F6636C4}"/>
              </a:ext>
            </a:extLst>
          </p:cNvPr>
          <p:cNvSpPr txBox="1"/>
          <p:nvPr/>
        </p:nvSpPr>
        <p:spPr>
          <a:xfrm>
            <a:off x="825500" y="787400"/>
            <a:ext cx="2348400" cy="264175"/>
          </a:xfrm>
          <a:prstGeom prst="rect">
            <a:avLst/>
          </a:prstGeom>
          <a:solidFill>
            <a:srgbClr val="E5B96E"/>
          </a:solidFill>
        </p:spPr>
        <p:txBody>
          <a:bodyPr vert="horz" wrap="none" lIns="114300" tIns="38100" rIns="114300" bIns="25400" rtlCol="0">
            <a:spAutoFit/>
          </a:bodyPr>
          <a:lstStyle/>
          <a:p>
            <a:r>
              <a:rPr lang="en-US" sz="1300" b="1">
                <a:solidFill>
                  <a:srgbClr val="11191D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SCAMMER NO SCAMMING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8D44E-C466-A9EB-7AC9-B94F41F53135}"/>
              </a:ext>
            </a:extLst>
          </p:cNvPr>
          <p:cNvSpPr txBox="1"/>
          <p:nvPr/>
        </p:nvSpPr>
        <p:spPr>
          <a:xfrm>
            <a:off x="825500" y="1168400"/>
            <a:ext cx="7112000" cy="196977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6400" b="1">
                <a:solidFill>
                  <a:srgbClr val="FFF4DC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เคยเกือบกดลิงก์
ที่ไม่ควรกดไหม?</a:t>
            </a:r>
            <a:endParaRPr lang="en-US" sz="6400" b="1">
              <a:solidFill>
                <a:srgbClr val="FFF4DC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61C38F-5267-6D9C-EC60-63561BD139C4}"/>
              </a:ext>
            </a:extLst>
          </p:cNvPr>
          <p:cNvSpPr/>
          <p:nvPr/>
        </p:nvSpPr>
        <p:spPr>
          <a:xfrm>
            <a:off x="825500" y="3315970"/>
            <a:ext cx="762000" cy="63500"/>
          </a:xfrm>
          <a:prstGeom prst="rect">
            <a:avLst/>
          </a:prstGeom>
          <a:solidFill>
            <a:srgbClr val="D97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FEF257-5D59-5422-B559-254935F8F7AE}"/>
              </a:ext>
            </a:extLst>
          </p:cNvPr>
          <p:cNvSpPr txBox="1"/>
          <p:nvPr/>
        </p:nvSpPr>
        <p:spPr>
          <a:xfrm>
            <a:off x="825500" y="3569970"/>
            <a:ext cx="660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3000">
                <a:solidFill>
                  <a:srgbClr val="E5B96E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ม้าเหล็กหมดน้ำมัน</a:t>
            </a:r>
            <a:endParaRPr lang="en-US" sz="3000">
              <a:solidFill>
                <a:srgbClr val="E5B96E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76242-2D75-E5D0-DE4F-2F2F15C747EF}"/>
              </a:ext>
            </a:extLst>
          </p:cNvPr>
          <p:cNvSpPr txBox="1"/>
          <p:nvPr/>
        </p:nvSpPr>
        <p:spPr>
          <a:xfrm>
            <a:off x="1524000" y="5858262"/>
            <a:ext cx="9144000" cy="682238"/>
          </a:xfrm>
          <a:prstGeom prst="rect">
            <a:avLst/>
          </a:prstGeom>
          <a:solidFill>
            <a:srgbClr val="090E11">
              <a:alpha val="78000"/>
            </a:srgbClr>
          </a:solidFill>
        </p:spPr>
        <p:txBody>
          <a:bodyPr vert="horz" wrap="square" lIns="152400" tIns="63500" rIns="152400" bIns="63500" rtlCol="0">
            <a:spAutoFit/>
          </a:bodyPr>
          <a:lstStyle/>
          <a:p>
            <a:pPr algn="ctr"/>
            <a:r>
              <a:rPr lang="th-TH">
                <a:solidFill>
                  <a:srgbClr val="FFFFFF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ถ้าเคย… ไม่ต้องอาย เมืองนี้กดกันไปหมดแล้ว ปี 2035 แก๊งสแกมดูดน้ำมันกับไฟจนเกลี้ยง เหลือตำรวจมือสะอาดคนเดียว</a:t>
            </a:r>
            <a:endParaRPr lang="en-US">
              <a:solidFill>
                <a:srgbClr val="FFFFFF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43595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>
        <p:fade thruBlk="1"/>
      </p:transition>
    </mc:Choice>
    <mc:Fallback>
      <p:transition spd="slow" advTm="12000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E6C134-F0B4-F85A-AF20-F8B8CB61DA3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327A31-B417-9DD9-1770-AC258D0834F5}"/>
              </a:ext>
            </a:extLst>
          </p:cNvPr>
          <p:cNvSpPr txBox="1"/>
          <p:nvPr/>
        </p:nvSpPr>
        <p:spPr>
          <a:xfrm>
            <a:off x="825500" y="787400"/>
            <a:ext cx="1756763" cy="264175"/>
          </a:xfrm>
          <a:prstGeom prst="rect">
            <a:avLst/>
          </a:prstGeom>
          <a:solidFill>
            <a:srgbClr val="E5B96E"/>
          </a:solidFill>
        </p:spPr>
        <p:txBody>
          <a:bodyPr vert="horz" wrap="none" lIns="114300" tIns="38100" rIns="114300" bIns="25400" rtlCol="0">
            <a:spAutoFit/>
          </a:bodyPr>
          <a:lstStyle/>
          <a:p>
            <a:r>
              <a:rPr lang="en-US" sz="1300" b="1">
                <a:solidFill>
                  <a:srgbClr val="11191D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THE REAL DAMAGE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A887C-2C90-249C-74F2-B1D71AE0E74C}"/>
              </a:ext>
            </a:extLst>
          </p:cNvPr>
          <p:cNvSpPr txBox="1"/>
          <p:nvPr/>
        </p:nvSpPr>
        <p:spPr>
          <a:xfrm>
            <a:off x="825500" y="1168400"/>
            <a:ext cx="7112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8000" b="1">
                <a:solidFill>
                  <a:srgbClr val="E5B96E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121,921 คดี</a:t>
            </a:r>
            <a:endParaRPr lang="en-US" sz="8000" b="1">
              <a:solidFill>
                <a:srgbClr val="E5B96E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2E5760-17F7-C876-6558-92E4C79EFD03}"/>
              </a:ext>
            </a:extLst>
          </p:cNvPr>
          <p:cNvSpPr/>
          <p:nvPr/>
        </p:nvSpPr>
        <p:spPr>
          <a:xfrm>
            <a:off x="825500" y="2577306"/>
            <a:ext cx="762000" cy="63500"/>
          </a:xfrm>
          <a:prstGeom prst="rect">
            <a:avLst/>
          </a:prstGeom>
          <a:solidFill>
            <a:srgbClr val="D97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759D7-2EED-C497-B489-518B1C462E29}"/>
              </a:ext>
            </a:extLst>
          </p:cNvPr>
          <p:cNvSpPr txBox="1"/>
          <p:nvPr/>
        </p:nvSpPr>
        <p:spPr>
          <a:xfrm>
            <a:off x="825500" y="2831306"/>
            <a:ext cx="660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3000">
                <a:solidFill>
                  <a:srgbClr val="FFF4DC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เสียหายรวม 7.48 พันล้านบาท</a:t>
            </a:r>
            <a:endParaRPr lang="en-US" sz="3000">
              <a:solidFill>
                <a:srgbClr val="FFF4DC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483582-30E0-3668-80DD-16D54D55073D}"/>
              </a:ext>
            </a:extLst>
          </p:cNvPr>
          <p:cNvSpPr txBox="1"/>
          <p:nvPr/>
        </p:nvSpPr>
        <p:spPr>
          <a:xfrm>
            <a:off x="825500" y="5689600"/>
            <a:ext cx="711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1100">
                <a:solidFill>
                  <a:srgbClr val="C8B894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ม.ค.-เม.ย. 2569 · ที่มา: ศูนย์ต่อต้านการฉ้อโกงออนไลน์ (</a:t>
            </a:r>
            <a:r>
              <a:rPr lang="en-US" sz="1100">
                <a:solidFill>
                  <a:srgbClr val="C8B894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ACSC) </a:t>
            </a:r>
            <a:r>
              <a:rPr lang="th-TH" sz="1100">
                <a:solidFill>
                  <a:srgbClr val="C8B894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ผ่าน </a:t>
            </a:r>
            <a:r>
              <a:rPr lang="en-US" sz="1100">
                <a:solidFill>
                  <a:srgbClr val="C8B894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Thai PBS Verify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AB81E-5BAC-EFB1-2889-E8196B25B127}"/>
              </a:ext>
            </a:extLst>
          </p:cNvPr>
          <p:cNvSpPr txBox="1"/>
          <p:nvPr/>
        </p:nvSpPr>
        <p:spPr>
          <a:xfrm>
            <a:off x="1524000" y="6135261"/>
            <a:ext cx="9144000" cy="405239"/>
          </a:xfrm>
          <a:prstGeom prst="rect">
            <a:avLst/>
          </a:prstGeom>
          <a:solidFill>
            <a:srgbClr val="090E11">
              <a:alpha val="78000"/>
            </a:srgbClr>
          </a:solidFill>
        </p:spPr>
        <p:txBody>
          <a:bodyPr vert="horz" wrap="square" lIns="152400" tIns="63500" rIns="152400" bIns="63500" rtlCol="0">
            <a:spAutoFit/>
          </a:bodyPr>
          <a:lstStyle/>
          <a:p>
            <a:pPr algn="ctr"/>
            <a:r>
              <a:rPr lang="th-TH">
                <a:solidFill>
                  <a:srgbClr val="FFFFFF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ฟังเหมือนนิยายใช่ไหม แต่นี่ไม่ใช่ฉากในเกม… นี่คือ 4 เดือนแรกของปีนี้ ในโลกจริง</a:t>
            </a:r>
            <a:endParaRPr lang="en-US">
              <a:solidFill>
                <a:srgbClr val="FFFFFF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21964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>
        <p:fade thruBlk="1"/>
      </p:transition>
    </mc:Choice>
    <mc:Fallback>
      <p:transition spd="slow" advTm="15000"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01FA7F-65A4-F654-96ED-65E16DA678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D4D137-A73F-6F8D-421C-927A7472DFC7}"/>
              </a:ext>
            </a:extLst>
          </p:cNvPr>
          <p:cNvSpPr txBox="1"/>
          <p:nvPr/>
        </p:nvSpPr>
        <p:spPr>
          <a:xfrm>
            <a:off x="825500" y="787400"/>
            <a:ext cx="1715021" cy="264175"/>
          </a:xfrm>
          <a:prstGeom prst="rect">
            <a:avLst/>
          </a:prstGeom>
          <a:solidFill>
            <a:srgbClr val="E5B96E"/>
          </a:solidFill>
        </p:spPr>
        <p:txBody>
          <a:bodyPr vert="horz" wrap="none" lIns="114300" tIns="38100" rIns="114300" bIns="25400" rtlCol="0">
            <a:spAutoFit/>
          </a:bodyPr>
          <a:lstStyle/>
          <a:p>
            <a:r>
              <a:rPr lang="en-US" sz="1300" b="1">
                <a:solidFill>
                  <a:srgbClr val="11191D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TARGET AUDIENCE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2F9AF-392F-D7E3-0E62-002FF85BF0C3}"/>
              </a:ext>
            </a:extLst>
          </p:cNvPr>
          <p:cNvSpPr txBox="1"/>
          <p:nvPr/>
        </p:nvSpPr>
        <p:spPr>
          <a:xfrm>
            <a:off x="825500" y="1168400"/>
            <a:ext cx="711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5400" b="1">
                <a:solidFill>
                  <a:srgbClr val="FFF4DC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แล้วใครโดน?</a:t>
            </a:r>
            <a:endParaRPr lang="en-US" sz="5400" b="1">
              <a:solidFill>
                <a:srgbClr val="FFF4DC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174623-6F35-F035-6F20-503129E64616}"/>
              </a:ext>
            </a:extLst>
          </p:cNvPr>
          <p:cNvSpPr/>
          <p:nvPr/>
        </p:nvSpPr>
        <p:spPr>
          <a:xfrm>
            <a:off x="825500" y="2177197"/>
            <a:ext cx="762000" cy="63500"/>
          </a:xfrm>
          <a:prstGeom prst="rect">
            <a:avLst/>
          </a:prstGeom>
          <a:solidFill>
            <a:srgbClr val="D97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B68C8-9F28-3B41-821B-D29E6F7DCF4D}"/>
              </a:ext>
            </a:extLst>
          </p:cNvPr>
          <p:cNvSpPr txBox="1"/>
          <p:nvPr/>
        </p:nvSpPr>
        <p:spPr>
          <a:xfrm>
            <a:off x="825500" y="2431197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วัยรุ่น · วัยทำงาน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7996F8-162F-9A91-0A52-D7FF2823251A}"/>
              </a:ext>
            </a:extLst>
          </p:cNvPr>
          <p:cNvSpPr txBox="1"/>
          <p:nvPr/>
        </p:nvSpPr>
        <p:spPr>
          <a:xfrm>
            <a:off x="825500" y="2871351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คนที่มือถือไม่เคยห่างมือ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BD3CBA-52E2-571E-A995-A308FBAEA1B5}"/>
              </a:ext>
            </a:extLst>
          </p:cNvPr>
          <p:cNvSpPr txBox="1"/>
          <p:nvPr/>
        </p:nvSpPr>
        <p:spPr>
          <a:xfrm>
            <a:off x="1524000" y="6135261"/>
            <a:ext cx="9144000" cy="405239"/>
          </a:xfrm>
          <a:prstGeom prst="rect">
            <a:avLst/>
          </a:prstGeom>
          <a:solidFill>
            <a:srgbClr val="090E11">
              <a:alpha val="78000"/>
            </a:srgbClr>
          </a:solidFill>
        </p:spPr>
        <p:txBody>
          <a:bodyPr vert="horz" wrap="square" lIns="152400" tIns="63500" rIns="152400" bIns="63500" rtlCol="0">
            <a:spAutoFit/>
          </a:bodyPr>
          <a:lstStyle/>
          <a:p>
            <a:pPr algn="ctr"/>
            <a:r>
              <a:rPr lang="th-TH">
                <a:solidFill>
                  <a:srgbClr val="FFFFFF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ไม่ใช่คนโง่… คือคนแบบเรานี่แหละ นั่งกินข้าว เลื่อนมือถือ แล้วเผลอกดไปทีเดียว</a:t>
            </a:r>
            <a:endParaRPr lang="en-US">
              <a:solidFill>
                <a:srgbClr val="FFFFFF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7974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>
        <p:fade thruBlk="1"/>
      </p:transition>
    </mc:Choice>
    <mc:Fallback>
      <p:transition spd="slow" advTm="13000"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73D326-FF04-5B26-0D1B-E0D8291029D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03BD65-8DD4-E9B9-40E1-39F051D96E57}"/>
              </a:ext>
            </a:extLst>
          </p:cNvPr>
          <p:cNvSpPr txBox="1"/>
          <p:nvPr/>
        </p:nvSpPr>
        <p:spPr>
          <a:xfrm>
            <a:off x="825500" y="787400"/>
            <a:ext cx="1512786" cy="264175"/>
          </a:xfrm>
          <a:prstGeom prst="rect">
            <a:avLst/>
          </a:prstGeom>
          <a:solidFill>
            <a:srgbClr val="E5B96E"/>
          </a:solidFill>
        </p:spPr>
        <p:txBody>
          <a:bodyPr vert="horz" wrap="none" lIns="114300" tIns="38100" rIns="114300" bIns="25400" rtlCol="0">
            <a:spAutoFit/>
          </a:bodyPr>
          <a:lstStyle/>
          <a:p>
            <a:r>
              <a:rPr lang="en-US" sz="1300" b="1">
                <a:solidFill>
                  <a:srgbClr val="11191D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GAME CONCEPT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E0456-AC29-B982-E818-E1721C7259BC}"/>
              </a:ext>
            </a:extLst>
          </p:cNvPr>
          <p:cNvSpPr txBox="1"/>
          <p:nvPr/>
        </p:nvSpPr>
        <p:spPr>
          <a:xfrm>
            <a:off x="825500" y="1168400"/>
            <a:ext cx="711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5400" b="1">
                <a:solidFill>
                  <a:srgbClr val="FFF4DC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ถ้าให้นึกภาพ…</a:t>
            </a:r>
            <a:endParaRPr lang="en-US" sz="5400" b="1">
              <a:solidFill>
                <a:srgbClr val="FFF4DC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859EF6-6D3A-2603-D056-4F4DD3F451E7}"/>
              </a:ext>
            </a:extLst>
          </p:cNvPr>
          <p:cNvSpPr/>
          <p:nvPr/>
        </p:nvSpPr>
        <p:spPr>
          <a:xfrm>
            <a:off x="825500" y="2177197"/>
            <a:ext cx="762000" cy="63500"/>
          </a:xfrm>
          <a:prstGeom prst="rect">
            <a:avLst/>
          </a:prstGeom>
          <a:solidFill>
            <a:srgbClr val="D97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84A6F-5C45-3674-967E-EAFA2E43091F}"/>
              </a:ext>
            </a:extLst>
          </p:cNvPr>
          <p:cNvSpPr txBox="1"/>
          <p:nvPr/>
        </p:nvSpPr>
        <p:spPr>
          <a:xfrm>
            <a:off x="825500" y="2431197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ขี่ม้าแบบ </a:t>
            </a:r>
            <a:r>
              <a:rPr lang="en-US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Red Dead Redemption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006ACB-73EC-9829-F54D-8EE51C066467}"/>
              </a:ext>
            </a:extLst>
          </p:cNvPr>
          <p:cNvSpPr txBox="1"/>
          <p:nvPr/>
        </p:nvSpPr>
        <p:spPr>
          <a:xfrm>
            <a:off x="825500" y="2871351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แต่ต้องจับผิดแบบ </a:t>
            </a:r>
            <a:r>
              <a:rPr lang="en-US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Papers, Please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2DCB2E-830D-5E9B-1642-32AB28C36E00}"/>
              </a:ext>
            </a:extLst>
          </p:cNvPr>
          <p:cNvSpPr txBox="1"/>
          <p:nvPr/>
        </p:nvSpPr>
        <p:spPr>
          <a:xfrm>
            <a:off x="1524000" y="5858262"/>
            <a:ext cx="9144000" cy="682238"/>
          </a:xfrm>
          <a:prstGeom prst="rect">
            <a:avLst/>
          </a:prstGeom>
          <a:solidFill>
            <a:srgbClr val="090E11">
              <a:alpha val="78000"/>
            </a:srgbClr>
          </a:solidFill>
        </p:spPr>
        <p:txBody>
          <a:bodyPr vert="horz" wrap="square" lIns="152400" tIns="63500" rIns="152400" bIns="63500" rtlCol="0">
            <a:spAutoFit/>
          </a:bodyPr>
          <a:lstStyle/>
          <a:p>
            <a:pPr algn="ctr"/>
            <a:r>
              <a:rPr lang="th-TH">
                <a:solidFill>
                  <a:srgbClr val="FFFFFF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คุณคือสารวัตรเอก ขี่ม้าไล่ปิดรังสแกมในเมืองวงแหวน สถานีอยู่ตรงกลาง รังซ่อนอยู่ในตึกสูง ตึกแถว และบ้าน</a:t>
            </a:r>
            <a:endParaRPr lang="en-US">
              <a:solidFill>
                <a:srgbClr val="FFFFFF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81428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>
        <p:fade thruBlk="1"/>
      </p:transition>
    </mc:Choice>
    <mc:Fallback>
      <p:transition spd="slow" advTm="14000"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AFA1BE-C3EB-0C6D-19F1-4AD9EB9C79E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91BD3F-111E-8317-B5C8-A5A6694E8918}"/>
              </a:ext>
            </a:extLst>
          </p:cNvPr>
          <p:cNvSpPr txBox="1"/>
          <p:nvPr/>
        </p:nvSpPr>
        <p:spPr>
          <a:xfrm>
            <a:off x="825500" y="787400"/>
            <a:ext cx="1582421" cy="264175"/>
          </a:xfrm>
          <a:prstGeom prst="rect">
            <a:avLst/>
          </a:prstGeom>
          <a:solidFill>
            <a:srgbClr val="E5B96E"/>
          </a:solidFill>
        </p:spPr>
        <p:txBody>
          <a:bodyPr vert="horz" wrap="none" lIns="114300" tIns="38100" rIns="114300" bIns="25400" rtlCol="0">
            <a:spAutoFit/>
          </a:bodyPr>
          <a:lstStyle/>
          <a:p>
            <a:r>
              <a:rPr lang="en-US" sz="1300" b="1">
                <a:solidFill>
                  <a:srgbClr val="11191D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CORE GAMEPLAY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C6BD4-8E9C-B3C2-D91B-E3A20A44B266}"/>
              </a:ext>
            </a:extLst>
          </p:cNvPr>
          <p:cNvSpPr txBox="1"/>
          <p:nvPr/>
        </p:nvSpPr>
        <p:spPr>
          <a:xfrm>
            <a:off x="825500" y="1168400"/>
            <a:ext cx="711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5400" b="1">
                <a:solidFill>
                  <a:srgbClr val="FFF4DC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 คดี เริ่มจาก 1 คน</a:t>
            </a:r>
            <a:endParaRPr lang="en-US" sz="5400" b="1">
              <a:solidFill>
                <a:srgbClr val="FFF4DC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032E27-5060-A3A4-6B1E-67E2BE9FF782}"/>
              </a:ext>
            </a:extLst>
          </p:cNvPr>
          <p:cNvSpPr/>
          <p:nvPr/>
        </p:nvSpPr>
        <p:spPr>
          <a:xfrm>
            <a:off x="825500" y="2177197"/>
            <a:ext cx="762000" cy="63500"/>
          </a:xfrm>
          <a:prstGeom prst="rect">
            <a:avLst/>
          </a:prstGeom>
          <a:solidFill>
            <a:srgbClr val="D97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EF3F5-FB5A-7576-8C17-242F8AB22162}"/>
              </a:ext>
            </a:extLst>
          </p:cNvPr>
          <p:cNvSpPr txBox="1"/>
          <p:nvPr/>
        </p:nvSpPr>
        <p:spPr>
          <a:xfrm>
            <a:off x="825500" y="2431197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1. ฟังผู้เสียหาย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94453-4FD0-D09E-C363-87147EAD1B73}"/>
              </a:ext>
            </a:extLst>
          </p:cNvPr>
          <p:cNvSpPr txBox="1"/>
          <p:nvPr/>
        </p:nvSpPr>
        <p:spPr>
          <a:xfrm>
            <a:off x="825500" y="2871351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2. หารัง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03D7C-DC8A-806B-485F-F03BB5D5804A}"/>
              </a:ext>
            </a:extLst>
          </p:cNvPr>
          <p:cNvSpPr txBox="1"/>
          <p:nvPr/>
        </p:nvSpPr>
        <p:spPr>
          <a:xfrm>
            <a:off x="825500" y="3311505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3. แต่งยีนม้า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42A0D5-931C-4A1C-6587-AF3FA51AE604}"/>
              </a:ext>
            </a:extLst>
          </p:cNvPr>
          <p:cNvSpPr txBox="1"/>
          <p:nvPr/>
        </p:nvSpPr>
        <p:spPr>
          <a:xfrm>
            <a:off x="825500" y="3751659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4. ขี่ผ่านกับดัก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C6AA51-D189-AC0A-1748-C239F86B992B}"/>
              </a:ext>
            </a:extLst>
          </p:cNvPr>
          <p:cNvSpPr txBox="1"/>
          <p:nvPr/>
        </p:nvSpPr>
        <p:spPr>
          <a:xfrm>
            <a:off x="825500" y="4191813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5. บุกรัง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6326AC-F9FC-EEB6-9541-98E2CD0EF432}"/>
              </a:ext>
            </a:extLst>
          </p:cNvPr>
          <p:cNvSpPr txBox="1"/>
          <p:nvPr/>
        </p:nvSpPr>
        <p:spPr>
          <a:xfrm>
            <a:off x="825500" y="4631967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6. Seal </a:t>
            </a:r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หลักฐาน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DFAAE6-99FD-1565-8C63-BF7585B69BB0}"/>
              </a:ext>
            </a:extLst>
          </p:cNvPr>
          <p:cNvSpPr txBox="1"/>
          <p:nvPr/>
        </p:nvSpPr>
        <p:spPr>
          <a:xfrm>
            <a:off x="1524000" y="6135261"/>
            <a:ext cx="9144000" cy="405239"/>
          </a:xfrm>
          <a:prstGeom prst="rect">
            <a:avLst/>
          </a:prstGeom>
          <a:solidFill>
            <a:srgbClr val="090E11">
              <a:alpha val="78000"/>
            </a:srgbClr>
          </a:solidFill>
        </p:spPr>
        <p:txBody>
          <a:bodyPr vert="horz" wrap="square" lIns="152400" tIns="63500" rIns="152400" bIns="63500" rtlCol="0">
            <a:spAutoFit/>
          </a:bodyPr>
          <a:lstStyle/>
          <a:p>
            <a:pPr algn="ctr"/>
            <a:r>
              <a:rPr lang="th-TH">
                <a:solidFill>
                  <a:srgbClr val="FFFFFF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ฟังเขาเล่าให้จบ เบาะแสซ่อนอยู่ในเรื่อง เดาให้ถูกว่ารังอยู่โซนไหน ทิศไหน… แล้วควบไปเลย</a:t>
            </a:r>
            <a:endParaRPr lang="en-US">
              <a:solidFill>
                <a:srgbClr val="FFFFFF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95826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000">
        <p:fade thruBlk="1"/>
      </p:transition>
    </mc:Choice>
    <mc:Fallback>
      <p:transition spd="slow" advTm="18000"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06E203-697F-593B-CD0D-90F1E5205AB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BAD628-7BBC-CB8E-7FDD-C686CFD65D2F}"/>
              </a:ext>
            </a:extLst>
          </p:cNvPr>
          <p:cNvSpPr txBox="1"/>
          <p:nvPr/>
        </p:nvSpPr>
        <p:spPr>
          <a:xfrm>
            <a:off x="825500" y="787400"/>
            <a:ext cx="2125582" cy="264175"/>
          </a:xfrm>
          <a:prstGeom prst="rect">
            <a:avLst/>
          </a:prstGeom>
          <a:solidFill>
            <a:srgbClr val="E5B96E"/>
          </a:solidFill>
        </p:spPr>
        <p:txBody>
          <a:bodyPr vert="horz" wrap="none" lIns="114300" tIns="38100" rIns="114300" bIns="25400" rtlCol="0">
            <a:spAutoFit/>
          </a:bodyPr>
          <a:lstStyle/>
          <a:p>
            <a:r>
              <a:rPr lang="en-US" sz="1300" b="1">
                <a:solidFill>
                  <a:srgbClr val="11191D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UNIQUE SELLING POINT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043A9-9DBF-8ACA-03B9-191C081DDB47}"/>
              </a:ext>
            </a:extLst>
          </p:cNvPr>
          <p:cNvSpPr txBox="1"/>
          <p:nvPr/>
        </p:nvSpPr>
        <p:spPr>
          <a:xfrm>
            <a:off x="825500" y="1168400"/>
            <a:ext cx="7112000" cy="16619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5400" b="1">
                <a:solidFill>
                  <a:srgbClr val="FFF4DC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ต่างจากเกมยิงทั่วไป
3 อย่าง</a:t>
            </a:r>
            <a:endParaRPr lang="en-US" sz="5400" b="1">
              <a:solidFill>
                <a:srgbClr val="FFF4DC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3AEE87-8CF1-A818-5517-B14FF28146B9}"/>
              </a:ext>
            </a:extLst>
          </p:cNvPr>
          <p:cNvSpPr/>
          <p:nvPr/>
        </p:nvSpPr>
        <p:spPr>
          <a:xfrm>
            <a:off x="825500" y="3008193"/>
            <a:ext cx="762000" cy="63500"/>
          </a:xfrm>
          <a:prstGeom prst="rect">
            <a:avLst/>
          </a:prstGeom>
          <a:solidFill>
            <a:srgbClr val="D97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008D0-A847-9EFC-150D-C87E2C7662A2}"/>
              </a:ext>
            </a:extLst>
          </p:cNvPr>
          <p:cNvSpPr txBox="1"/>
          <p:nvPr/>
        </p:nvSpPr>
        <p:spPr>
          <a:xfrm>
            <a:off x="825500" y="3262193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1  กับดักทุกอันลอกมาจากสแกมจริง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2F422-166F-ED67-2022-A189871BC615}"/>
              </a:ext>
            </a:extLst>
          </p:cNvPr>
          <p:cNvSpPr txBox="1"/>
          <p:nvPr/>
        </p:nvSpPr>
        <p:spPr>
          <a:xfrm>
            <a:off x="825500" y="3702347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2  มีพิรุธให้เห็นก่อนเสมอ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6600F-380E-07C6-2C64-E5805D72B020}"/>
              </a:ext>
            </a:extLst>
          </p:cNvPr>
          <p:cNvSpPr txBox="1"/>
          <p:nvPr/>
        </p:nvSpPr>
        <p:spPr>
          <a:xfrm>
            <a:off x="825500" y="4142501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3  โดนแล้ว ได้เฉลยของจริง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B9D201-F93D-065D-6A3C-0EACF9FD69F9}"/>
              </a:ext>
            </a:extLst>
          </p:cNvPr>
          <p:cNvSpPr txBox="1"/>
          <p:nvPr/>
        </p:nvSpPr>
        <p:spPr>
          <a:xfrm>
            <a:off x="1524000" y="6135261"/>
            <a:ext cx="9144000" cy="405239"/>
          </a:xfrm>
          <a:prstGeom prst="rect">
            <a:avLst/>
          </a:prstGeom>
          <a:solidFill>
            <a:srgbClr val="090E11">
              <a:alpha val="78000"/>
            </a:srgbClr>
          </a:solidFill>
        </p:spPr>
        <p:txBody>
          <a:bodyPr vert="horz" wrap="square" lIns="152400" tIns="63500" rIns="152400" bIns="63500" rtlCol="0">
            <a:spAutoFit/>
          </a:bodyPr>
          <a:lstStyle/>
          <a:p>
            <a:pPr algn="ctr"/>
            <a:r>
              <a:rPr lang="th-TH">
                <a:solidFill>
                  <a:srgbClr val="FFFFFF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กล่องไหนปลอม? คนนั้นจ้องเราทำไม? หยุดดูก็รอด… รีบเมื่อไหร่ก็โดน</a:t>
            </a:r>
            <a:endParaRPr lang="en-US">
              <a:solidFill>
                <a:srgbClr val="FFFFFF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55540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000">
        <p:fade thruBlk="1"/>
      </p:transition>
    </mc:Choice>
    <mc:Fallback>
      <p:transition spd="slow" advTm="17000"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17C50F-71E2-E79B-BBBD-CD4ACA1B61F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8DCA8B-2715-44D2-A9CA-FB45800D5FC7}"/>
              </a:ext>
            </a:extLst>
          </p:cNvPr>
          <p:cNvSpPr txBox="1"/>
          <p:nvPr/>
        </p:nvSpPr>
        <p:spPr>
          <a:xfrm>
            <a:off x="825500" y="787400"/>
            <a:ext cx="1834669" cy="264175"/>
          </a:xfrm>
          <a:prstGeom prst="rect">
            <a:avLst/>
          </a:prstGeom>
          <a:solidFill>
            <a:srgbClr val="E5B96E"/>
          </a:solidFill>
        </p:spPr>
        <p:txBody>
          <a:bodyPr vert="horz" wrap="none" lIns="114300" tIns="38100" rIns="114300" bIns="25400" rtlCol="0">
            <a:spAutoFit/>
          </a:bodyPr>
          <a:lstStyle/>
          <a:p>
            <a:r>
              <a:rPr lang="en-US" sz="1300" b="1">
                <a:solidFill>
                  <a:srgbClr val="11191D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PLAYER EXPERIENCE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7938D-063F-3F9C-289E-67FEF67BB8CA}"/>
              </a:ext>
            </a:extLst>
          </p:cNvPr>
          <p:cNvSpPr txBox="1"/>
          <p:nvPr/>
        </p:nvSpPr>
        <p:spPr>
          <a:xfrm>
            <a:off x="825500" y="1168400"/>
            <a:ext cx="7112000" cy="16619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5400" b="1">
                <a:solidFill>
                  <a:srgbClr val="FFF4DC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ไม่ใช่ทุกคน
คือคนร้าย</a:t>
            </a:r>
            <a:endParaRPr lang="en-US" sz="5400" b="1">
              <a:solidFill>
                <a:srgbClr val="FFF4DC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507148-CAD0-4542-E86E-C4B4006F4F71}"/>
              </a:ext>
            </a:extLst>
          </p:cNvPr>
          <p:cNvSpPr/>
          <p:nvPr/>
        </p:nvSpPr>
        <p:spPr>
          <a:xfrm>
            <a:off x="825500" y="3008193"/>
            <a:ext cx="762000" cy="63500"/>
          </a:xfrm>
          <a:prstGeom prst="rect">
            <a:avLst/>
          </a:prstGeom>
          <a:solidFill>
            <a:srgbClr val="D97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80B1F2-236A-5F57-2785-3A6B5DCED132}"/>
              </a:ext>
            </a:extLst>
          </p:cNvPr>
          <p:cNvSpPr txBox="1"/>
          <p:nvPr/>
        </p:nvSpPr>
        <p:spPr>
          <a:xfrm>
            <a:off x="825500" y="3262193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ห้ามยิงเหยื่อ ห้ามยิงคนที่โดนบังคับมา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A674D8-F2D3-D661-940C-662C6F2D25ED}"/>
              </a:ext>
            </a:extLst>
          </p:cNvPr>
          <p:cNvSpPr txBox="1"/>
          <p:nvPr/>
        </p:nvSpPr>
        <p:spPr>
          <a:xfrm>
            <a:off x="825500" y="3702347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คดีสุ่มทุกรอบ · ฉากจบ 2 แบบ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CBC9B-F211-C37F-E73C-1A209DA3091C}"/>
              </a:ext>
            </a:extLst>
          </p:cNvPr>
          <p:cNvSpPr txBox="1"/>
          <p:nvPr/>
        </p:nvSpPr>
        <p:spPr>
          <a:xfrm>
            <a:off x="1524000" y="6135261"/>
            <a:ext cx="9144000" cy="405239"/>
          </a:xfrm>
          <a:prstGeom prst="rect">
            <a:avLst/>
          </a:prstGeom>
          <a:solidFill>
            <a:srgbClr val="090E11">
              <a:alpha val="78000"/>
            </a:srgbClr>
          </a:solidFill>
        </p:spPr>
        <p:txBody>
          <a:bodyPr vert="horz" wrap="square" lIns="152400" tIns="63500" rIns="152400" bIns="63500" rtlCol="0">
            <a:spAutoFit/>
          </a:bodyPr>
          <a:lstStyle/>
          <a:p>
            <a:pPr algn="ctr"/>
            <a:r>
              <a:rPr lang="th-TH">
                <a:solidFill>
                  <a:srgbClr val="FFFFFF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ตื่นเต้นตอนบุก แต่ภูมิใจที่สุดตอนจับพิรุธได้ทัน ยิงก่อนคิดเมื่อไหร่… ฉากจบเละเมื่อนั้น</a:t>
            </a:r>
            <a:endParaRPr lang="en-US">
              <a:solidFill>
                <a:srgbClr val="FFFFFF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73318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000">
        <p:fade thruBlk="1"/>
      </p:transition>
    </mc:Choice>
    <mc:Fallback>
      <p:transition spd="slow" advTm="17000"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FC49BC-621C-0E92-15CE-EFBB2B3CC02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1E9A51-B5B8-ECD1-1291-BCE9441992AC}"/>
              </a:ext>
            </a:extLst>
          </p:cNvPr>
          <p:cNvSpPr txBox="1"/>
          <p:nvPr/>
        </p:nvSpPr>
        <p:spPr>
          <a:xfrm>
            <a:off x="825500" y="787400"/>
            <a:ext cx="1914307" cy="264175"/>
          </a:xfrm>
          <a:prstGeom prst="rect">
            <a:avLst/>
          </a:prstGeom>
          <a:solidFill>
            <a:srgbClr val="E5B96E"/>
          </a:solidFill>
        </p:spPr>
        <p:txBody>
          <a:bodyPr vert="horz" wrap="none" lIns="114300" tIns="38100" rIns="114300" bIns="25400" rtlCol="0">
            <a:spAutoFit/>
          </a:bodyPr>
          <a:lstStyle/>
          <a:p>
            <a:r>
              <a:rPr lang="en-US" sz="1300" b="1">
                <a:solidFill>
                  <a:srgbClr val="11191D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DEVELOPMENT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2B66A-7646-3EA8-889B-F2DD8E27DF6C}"/>
              </a:ext>
            </a:extLst>
          </p:cNvPr>
          <p:cNvSpPr txBox="1"/>
          <p:nvPr/>
        </p:nvSpPr>
        <p:spPr>
          <a:xfrm>
            <a:off x="825500" y="1168400"/>
            <a:ext cx="7112000" cy="16619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5400" b="1">
                <a:solidFill>
                  <a:srgbClr val="FFF4DC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รังสุดท้าย
ไม่ได้อยู่ในเกม</a:t>
            </a:r>
            <a:endParaRPr lang="en-US" sz="5400" b="1">
              <a:solidFill>
                <a:srgbClr val="FFF4DC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C5F973-FF31-66BD-DD2A-C00781D418A0}"/>
              </a:ext>
            </a:extLst>
          </p:cNvPr>
          <p:cNvSpPr/>
          <p:nvPr/>
        </p:nvSpPr>
        <p:spPr>
          <a:xfrm>
            <a:off x="825500" y="3008193"/>
            <a:ext cx="762000" cy="63500"/>
          </a:xfrm>
          <a:prstGeom prst="rect">
            <a:avLst/>
          </a:prstGeom>
          <a:solidFill>
            <a:srgbClr val="D978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488AE-F6FC-0BD0-0810-B0B9CA47EDC7}"/>
              </a:ext>
            </a:extLst>
          </p:cNvPr>
          <p:cNvSpPr txBox="1"/>
          <p:nvPr/>
        </p:nvSpPr>
        <p:spPr>
          <a:xfrm>
            <a:off x="825500" y="3262193"/>
            <a:ext cx="660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เสร็จแล้ว: ม้า · ยิง · เมือง · ยีน · กับดัก 5 แบบ · หน้าวิเคราะห์ · บทเรียน · เทสต์ 44 ตัว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A44A5-6EC2-2B56-2B99-F9BDEEB5E40B}"/>
              </a:ext>
            </a:extLst>
          </p:cNvPr>
          <p:cNvSpPr txBox="1"/>
          <p:nvPr/>
        </p:nvSpPr>
        <p:spPr>
          <a:xfrm>
            <a:off x="825500" y="4040901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24 ต.ค.: ศัตรู · ปิดลูปคดี · </a:t>
            </a:r>
            <a:r>
              <a:rPr lang="en-US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UI </a:t>
            </a:r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ไทย · ให้คนจริงลองเล่น</a:t>
            </a:r>
            <a:endParaRPr lang="en-US" sz="2200">
              <a:solidFill>
                <a:srgbClr val="EDE2C8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C1BEE2-72F8-4626-C439-C3ABBAEBA165}"/>
              </a:ext>
            </a:extLst>
          </p:cNvPr>
          <p:cNvSpPr txBox="1"/>
          <p:nvPr/>
        </p:nvSpPr>
        <p:spPr>
          <a:xfrm>
            <a:off x="825500" y="4481055"/>
            <a:ext cx="660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th-TH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25 ต.ค.: ขึ้น </a:t>
            </a:r>
            <a:r>
              <a:rPr lang="en-US" sz="2200">
                <a:solidFill>
                  <a:srgbClr val="EDE2C8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itch.io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9D431-5007-C87A-1963-95658DF86ED8}"/>
              </a:ext>
            </a:extLst>
          </p:cNvPr>
          <p:cNvSpPr txBox="1"/>
          <p:nvPr/>
        </p:nvSpPr>
        <p:spPr>
          <a:xfrm>
            <a:off x="1524000" y="6135261"/>
            <a:ext cx="9144000" cy="405239"/>
          </a:xfrm>
          <a:prstGeom prst="rect">
            <a:avLst/>
          </a:prstGeom>
          <a:solidFill>
            <a:srgbClr val="090E11">
              <a:alpha val="78000"/>
            </a:srgbClr>
          </a:solidFill>
        </p:spPr>
        <p:txBody>
          <a:bodyPr vert="horz" wrap="square" lIns="152400" tIns="63500" rIns="152400" bIns="63500" rtlCol="0">
            <a:spAutoFit/>
          </a:bodyPr>
          <a:lstStyle/>
          <a:p>
            <a:pPr algn="ctr"/>
            <a:r>
              <a:rPr lang="th-TH">
                <a:solidFill>
                  <a:srgbClr val="FFFFFF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มันอยู่ในมือถือของเราทุกคน เราไม่ได้สอนให้บุก แค่ให้ซ้อมคิดก่อนเจอจริง · 25 ต.ค. มาลองเอง</a:t>
            </a:r>
            <a:endParaRPr lang="en-US">
              <a:solidFill>
                <a:srgbClr val="FFFFFF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8001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>
        <p:fade thruBlk="1"/>
      </p:transition>
    </mc:Choice>
    <mc:Fallback>
      <p:transition spd="slow" advTm="14000"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PresentationFormat>Custom</PresentationFormat>
  <Paragraphs>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Leelawadee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chanawee kiatnitiprawat</dc:creator>
  <cp:lastModifiedBy>chanawee kiatnitiprawat</cp:lastModifiedBy>
  <cp:revision>1</cp:revision>
  <dcterms:created xsi:type="dcterms:W3CDTF">2026-10-23T12:15:40Z</dcterms:created>
  <dcterms:modified xsi:type="dcterms:W3CDTF">2026-10-23T12:15:40Z</dcterms:modified>
</cp:coreProperties>
</file>